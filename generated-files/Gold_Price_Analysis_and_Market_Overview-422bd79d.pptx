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expectations for a comprehensive analysis of the current gold market. Emphasize the significance of gold reaching historically high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current pricing data with context. Explain the relationship between troy ounce and gram pricing. Highlight that these levels represent significant appreciation from previous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multi-year trend showing gold's resilience and growth. Reference key milestones and how current prices compare to historical benchmarks. Mention the psychological significance of breaking previous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macroeconomic relationship between inflation and gold. Discuss how currency strength impacts gold's appeal to international investors. Reference current inflation data and monetary policy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current geopolitical events and their impact on gold as a safe-haven asset. Discuss central bank accumulation trends and their role in supporting prices. Mention supply-side factors affecting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investors through different gold investment vehicles. Discuss pros and cons of each approach. Emphasize the importance of matching investment method to individual circumstances and risk tolerance.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 balanced outlook acknowledging both bullish and consolidation scenarios. Discuss key price levels to monitor. Reference analyst consensus and various market forecasts while noting inherent uncertainties.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main points and reinforce the investment thesis. Encourage questions and discussion. Provide contact information for follow-up analysis or personalized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Price Analysis &amp; Market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spot price: $4,700-$4,760 per troy ounce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Gold Pricing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Spot price: $4,700-$4,760 per troy ounce (April 2026)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per gram: $152-153 USD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Represents historically elevated levels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Trading near all-time highs with strong momentum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Price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Gold has appreciated significantly over the past decade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Previous resistance levels broken in 2024-2025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upward trajectory with periodic corrections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levels reflect long-term bullish sentiment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&amp; Currency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Inflation remains a primary driver of gold demand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 fluctuations affect international pricing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 dollar typically supports higher gold prices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interest rates inversely correlated with gold valuations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&amp; Market Factors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tensions increase safe-haven demand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bank purchases support price floor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chain considerations and mining output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volatility drives investor risk-off positioning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Considerations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 diversification benefits and risk mitigation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gold vs. ETFs vs. mining stocks comparison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Storage, insurance, and liquidity factors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 horizon and investment objectives alignment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Outlook 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Continued support from macroeconomic uncertainty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consolidation after recent gains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Resistance levels and technical support zones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Long-term fundamentals remain constructive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at historically elevated levels with strong fundamentals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factors supporting continued demand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Diversification and strategic positioning recommended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macroeconomic indicators and geopolitical developments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Price Analysis and Market Overview</dc:title>
  <dc:subject>PptxGenJS Presentation</dc:subject>
  <dc:creator>AgentOS V</dc:creator>
  <cp:lastModifiedBy>AgentOS V</cp:lastModifiedBy>
  <cp:revision>1</cp:revision>
  <dcterms:created xsi:type="dcterms:W3CDTF">2026-04-14T11:19:25Z</dcterms:created>
  <dcterms:modified xsi:type="dcterms:W3CDTF">2026-04-14T11:19:25Z</dcterms:modified>
</cp:coreProperties>
</file>