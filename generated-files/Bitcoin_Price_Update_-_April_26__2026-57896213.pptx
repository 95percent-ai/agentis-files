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current market conditions. Emphasize the narrow price range and positive daily movement. Highlight the consistency across major exchanges as a sign of market health. Reference the specific timestamp of April 26, 2026 for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the significance of price consistency across exchanges. Explain that tight spreads indicate robust market depth and active trading. This stability is positive for institutional and retail investors alike. Note that bitFlyer's slightly lower price may reflect regional factors or trading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with key takeaways: Bitcoin is in a stable price range with positive momentum. The consistency across exchanges is reassuring for market participants. Recommend continued monitoring of price action and market catalysts. Thank audience for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371600"/>
            <a:ext cx="10972800" cy="1371600"/>
          </a:xfrm>
          <a:prstGeom prst="rect">
            <a:avLst/>
          </a:prstGeom>
          <a:noFill/>
          <a:ln/>
        </p:spPr>
        <p:txBody>
          <a:bodyPr wrap="square" rtlCol="0" anchor="ctr"/>
          <a:lstStyle/>
          <a:p>
            <a:pPr algn="ctr" indent="0" marL="0">
              <a:buNone/>
            </a:pPr>
            <a:r>
              <a:rPr lang="en-US" sz="3600" b="1" dirty="0">
                <a:solidFill>
                  <a:srgbClr val="00F0FF"/>
                </a:solidFill>
                <a:latin typeface="Arial" pitchFamily="34" charset="0"/>
                <a:ea typeface="Arial" pitchFamily="34" charset="-122"/>
                <a:cs typeface="Arial" pitchFamily="34" charset="-120"/>
              </a:rPr>
              <a:t>Bitcoin Price Update - April 26, 2026</a:t>
            </a:r>
            <a:endParaRPr lang="en-US" sz="3600" dirty="0"/>
          </a:p>
        </p:txBody>
      </p:sp>
      <p:sp>
        <p:nvSpPr>
          <p:cNvPr id="3" name="Text 1"/>
          <p:cNvSpPr/>
          <p:nvPr/>
        </p:nvSpPr>
        <p:spPr>
          <a:xfrm>
            <a:off x="457200" y="3200400"/>
            <a:ext cx="10972800" cy="731520"/>
          </a:xfrm>
          <a:prstGeom prst="rect">
            <a:avLst/>
          </a:prstGeom>
          <a:noFill/>
          <a:ln/>
        </p:spPr>
        <p:txBody>
          <a:bodyPr wrap="square" rtlCol="0" anchor="ctr"/>
          <a:lstStyle/>
          <a:p>
            <a:pPr algn="ctr" indent="0" marL="0">
              <a:buNone/>
            </a:pPr>
            <a:r>
              <a:rPr lang="en-US" sz="1800" dirty="0">
                <a:solidFill>
                  <a:srgbClr val="94A3B8"/>
                </a:solidFill>
                <a:latin typeface="Arial" pitchFamily="34" charset="0"/>
                <a:ea typeface="Arial" pitchFamily="34" charset="-122"/>
                <a:cs typeface="Arial" pitchFamily="34" charset="-120"/>
              </a:rPr>
              <a:t>Current BTC Price: $77,800 - $78,000 USD</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10972800" cy="731520"/>
          </a:xfrm>
          <a:prstGeom prst="rect">
            <a:avLst/>
          </a:prstGeom>
          <a:noFill/>
          <a:ln/>
        </p:spPr>
        <p:txBody>
          <a:bodyPr wrap="square" rtlCol="0" anchor="ctr"/>
          <a:lstStyle/>
          <a:p>
            <a:pPr algn="l" indent="0" marL="0">
              <a:buNone/>
            </a:pPr>
            <a:r>
              <a:rPr lang="en-US" sz="2400" b="1" dirty="0">
                <a:solidFill>
                  <a:srgbClr val="00F0FF"/>
                </a:solidFill>
                <a:latin typeface="Arial" pitchFamily="34" charset="0"/>
                <a:ea typeface="Arial" pitchFamily="34" charset="-122"/>
                <a:cs typeface="Arial" pitchFamily="34" charset="-120"/>
              </a:rPr>
              <a:t>Market Stability &amp; Exchange Consistency</a:t>
            </a:r>
            <a:endParaRPr lang="en-US" sz="2400" dirty="0"/>
          </a:p>
        </p:txBody>
      </p:sp>
      <p:sp>
        <p:nvSpPr>
          <p:cNvPr id="3" name="Text 1"/>
          <p:cNvSpPr/>
          <p:nvPr/>
        </p:nvSpPr>
        <p:spPr>
          <a:xfrm>
            <a:off x="731520" y="1280160"/>
            <a:ext cx="10363200" cy="3200400"/>
          </a:xfrm>
          <a:prstGeom prst="rect">
            <a:avLst/>
          </a:prstGeom>
          <a:noFill/>
          <a:ln/>
        </p:spPr>
        <p:txBody>
          <a:bodyPr wrap="square" rtlCol="0" anchor="ctr"/>
          <a:lstStyle/>
          <a:p>
            <a:pPr algn="l" indent="0" marL="0">
              <a:lnSpc>
                <a:spcPct val="150000"/>
              </a:lnSpc>
              <a:buNone/>
            </a:pPr>
            <a:r>
              <a:rPr lang="en-US" sz="1600" dirty="0">
                <a:solidFill>
                  <a:srgbClr val="E2E8F0"/>
                </a:solidFill>
                <a:latin typeface="Arial" pitchFamily="34" charset="0"/>
                <a:ea typeface="Arial" pitchFamily="34" charset="-122"/>
                <a:cs typeface="Arial" pitchFamily="34" charset="-120"/>
              </a:rPr>
              <a:t>• Cross-exchange price variance less than $500 USD - indicating healthy market conditions</a:t>
            </a:r>
            <a:pPr algn="l" indent="0" marL="0">
              <a:lnSpc>
                <a:spcPct val="150000"/>
              </a:lnSpc>
              <a:buNone/>
            </a:pPr>
            <a:r>
              <a:rPr lang="en-US" sz="1600" dirty="0">
                <a:solidFill>
                  <a:srgbClr val="E2E8F0"/>
                </a:solidFill>
                <a:latin typeface="Arial" pitchFamily="34" charset="0"/>
                <a:ea typeface="Arial" pitchFamily="34" charset="-122"/>
                <a:cs typeface="Arial" pitchFamily="34" charset="-120"/>
              </a:rPr>
              <a:t>• Consistent pricing across Kraken, CoinMarketCap, and TradingView platforms</a:t>
            </a:r>
            <a:pPr algn="l" indent="0" marL="0">
              <a:lnSpc>
                <a:spcPct val="150000"/>
              </a:lnSpc>
              <a:buNone/>
            </a:pPr>
            <a:r>
              <a:rPr lang="en-US" sz="1600" dirty="0">
                <a:solidFill>
                  <a:srgbClr val="E2E8F0"/>
                </a:solidFill>
                <a:latin typeface="Arial" pitchFamily="34" charset="0"/>
                <a:ea typeface="Arial" pitchFamily="34" charset="-122"/>
                <a:cs typeface="Arial" pitchFamily="34" charset="-120"/>
              </a:rPr>
              <a:t>• Minimal volatility supports confidence in market integrity</a:t>
            </a:r>
            <a:pPr algn="l" indent="0" marL="0">
              <a:lnSpc>
                <a:spcPct val="150000"/>
              </a:lnSpc>
              <a:buNone/>
            </a:pPr>
            <a:r>
              <a:rPr lang="en-US" sz="1600" dirty="0">
                <a:solidFill>
                  <a:srgbClr val="E2E8F0"/>
                </a:solidFill>
                <a:latin typeface="Arial" pitchFamily="34" charset="0"/>
                <a:ea typeface="Arial" pitchFamily="34" charset="-122"/>
                <a:cs typeface="Arial" pitchFamily="34" charset="-120"/>
              </a:rPr>
              <a:t>• Strong liquidity across major trading venues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0"/>
            <a:ext cx="10972800" cy="1371600"/>
          </a:xfrm>
          <a:prstGeom prst="rect">
            <a:avLst/>
          </a:prstGeom>
          <a:noFill/>
          <a:ln/>
        </p:spPr>
        <p:txBody>
          <a:bodyPr wrap="square" rtlCol="0" anchor="ctr"/>
          <a:lstStyle/>
          <a:p>
            <a:pPr algn="ctr" indent="0" marL="0">
              <a:buNone/>
            </a:pPr>
            <a:r>
              <a:rPr lang="en-US" sz="3000" b="1" dirty="0">
                <a:solidFill>
                  <a:srgbClr val="10B981"/>
                </a:solidFill>
                <a:latin typeface="Arial" pitchFamily="34" charset="0"/>
                <a:ea typeface="Arial" pitchFamily="34" charset="-122"/>
                <a:cs typeface="Arial" pitchFamily="34" charset="-120"/>
              </a:rPr>
              <a:t>Summary: Bitcoin Trading at $78,000</a:t>
            </a:r>
            <a:endParaRPr lang="en-US" sz="3000" dirty="0"/>
          </a:p>
        </p:txBody>
      </p:sp>
      <p:sp>
        <p:nvSpPr>
          <p:cNvPr id="3" name="Text 1"/>
          <p:cNvSpPr/>
          <p:nvPr/>
        </p:nvSpPr>
        <p:spPr>
          <a:xfrm>
            <a:off x="457200" y="3474720"/>
            <a:ext cx="10972800" cy="9144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Bitcoin trading near $78,000 with positive daily momentum</a:t>
            </a:r>
            <a:endParaRPr lang="en-US" sz="1600" dirty="0"/>
          </a:p>
          <a:p>
            <a:pPr algn="ctr" indent="0" marL="0">
              <a:buNone/>
            </a:pPr>
            <a:r>
              <a:rPr lang="en-US" sz="1600" dirty="0">
                <a:solidFill>
                  <a:srgbClr val="94A3B8"/>
                </a:solidFill>
                <a:latin typeface="Arial" pitchFamily="34" charset="0"/>
                <a:ea typeface="Arial" pitchFamily="34" charset="-122"/>
                <a:cs typeface="Arial" pitchFamily="34" charset="-120"/>
              </a:rPr>
              <a:t>Stable cross-exchange pricing demonstrates market confidence</a:t>
            </a:r>
            <a:endParaRPr lang="en-US" sz="1600" dirty="0"/>
          </a:p>
          <a:p>
            <a:pPr algn="ctr" indent="0" marL="0">
              <a:buNone/>
            </a:pPr>
            <a:r>
              <a:rPr lang="en-US" sz="1600" dirty="0">
                <a:solidFill>
                  <a:srgbClr val="94A3B8"/>
                </a:solidFill>
                <a:latin typeface="Arial" pitchFamily="34" charset="0"/>
                <a:ea typeface="Arial" pitchFamily="34" charset="-122"/>
                <a:cs typeface="Arial" pitchFamily="34" charset="-120"/>
              </a:rPr>
              <a:t>Healthy market conditions support continued trading activity</a:t>
            </a:r>
            <a:endParaRPr lang="en-US" sz="1600" dirty="0"/>
          </a:p>
          <a:p>
            <a:pPr algn="ctr" indent="0" marL="0">
              <a:buNone/>
            </a:pPr>
            <a:r>
              <a:rPr lang="en-US" sz="1600" dirty="0">
                <a:solidFill>
                  <a:srgbClr val="94A3B8"/>
                </a:solidFill>
                <a:latin typeface="Arial" pitchFamily="34" charset="0"/>
                <a:ea typeface="Arial" pitchFamily="34" charset="-122"/>
                <a:cs typeface="Arial" pitchFamily="34" charset="-120"/>
              </a:rPr>
              <a:t>Monitor for continued price movement and market developments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Bitcoin Price Update - April 26, 2026</dc:title>
  <dc:subject>PptxGenJS Presentation</dc:subject>
  <dc:creator>AgentOS V</dc:creator>
  <cp:lastModifiedBy>AgentOS V</cp:lastModifiedBy>
  <cp:revision>1</cp:revision>
  <dcterms:created xsi:type="dcterms:W3CDTF">2026-04-26T14:12:07Z</dcterms:created>
  <dcterms:modified xsi:type="dcterms:W3CDTF">2026-04-26T14:12:07Z</dcterms:modified>
</cp:coreProperties>
</file>